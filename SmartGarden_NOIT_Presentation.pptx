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5423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486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1828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82880" y="2423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274320" y="3108960"/>
            <a:ext cx="2651760" cy="36576"/>
          </a:xfrm>
          <a:prstGeom prst="rect">
            <a:avLst/>
          </a:prstGeom>
          <a:solidFill>
            <a:srgbClr val="97BC62">
              <a:alpha val="60000"/>
            </a:srgbClr>
          </a:solidFill>
          <a:ln w="12700">
            <a:solidFill>
              <a:srgbClr val="97BC6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8" name="Text 5"/>
          <p:cNvSpPr/>
          <p:nvPr/>
        </p:nvSpPr>
        <p:spPr>
          <a:xfrm>
            <a:off x="18288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НОИТ 2025-2026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474720" y="64008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Интелигентна система за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автоматично напояване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474720" y="1965960"/>
            <a:ext cx="5303520" cy="548640"/>
          </a:xfrm>
          <a:prstGeom prst="rect">
            <a:avLst/>
          </a:prstGeom>
          <a:solidFill>
            <a:srgbClr val="4A7C59">
              <a:alpha val="40000"/>
            </a:srgbClr>
          </a:solidFill>
          <a:ln w="12700">
            <a:solidFill>
              <a:srgbClr val="97BC6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1" name="Text 8"/>
          <p:cNvSpPr/>
          <p:nvPr/>
        </p:nvSpPr>
        <p:spPr>
          <a:xfrm>
            <a:off x="3657600" y="19659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B8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адаптивен изкуствен интелект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474720" y="2743200"/>
            <a:ext cx="1554480" cy="822960"/>
          </a:xfrm>
          <a:prstGeom prst="rect">
            <a:avLst/>
          </a:prstGeom>
          <a:solidFill>
            <a:srgbClr val="4A7C59">
              <a:alpha val="60000"/>
            </a:srgbClr>
          </a:solidFill>
          <a:ln w="12700">
            <a:solidFill>
              <a:srgbClr val="97BC62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7889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31272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сензори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303520" y="2743200"/>
            <a:ext cx="1554480" cy="822960"/>
          </a:xfrm>
          <a:prstGeom prst="rect">
            <a:avLst/>
          </a:prstGeom>
          <a:solidFill>
            <a:srgbClr val="4A7C59">
              <a:alpha val="60000"/>
            </a:srgbClr>
          </a:solidFill>
          <a:ln w="12700">
            <a:solidFill>
              <a:srgbClr val="97BC62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27889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49240" y="31272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 полив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132320" y="2743200"/>
            <a:ext cx="1554480" cy="822960"/>
          </a:xfrm>
          <a:prstGeom prst="rect">
            <a:avLst/>
          </a:prstGeom>
          <a:solidFill>
            <a:srgbClr val="4A7C59">
              <a:alpha val="60000"/>
            </a:srgbClr>
          </a:solidFill>
          <a:ln w="12700">
            <a:solidFill>
              <a:srgbClr val="97BC62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278892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78040" y="31272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Адаптивен AI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3474720" y="3931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bg-BG" sz="13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Денис</a:t>
            </a:r>
            <a:r>
              <a:rPr lang="en-US" sz="13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(Софтуер)  ·  </a:t>
            </a:r>
            <a:r>
              <a:rPr lang="bg-BG" sz="13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Петър</a:t>
            </a:r>
            <a:r>
              <a:rPr lang="en-US" sz="13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(Хардуер)  ·  11 клас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3" name="Text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Категория: Роботика и изкуствен интелект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ЗАЩО ИМАМЕ НУЖДА ОТ УМНО НАПОЯВАНЕ?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286000" cy="201168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загуба на вода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8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традиционен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8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17520" y="1097280"/>
            <a:ext cx="1828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8" name="Shape 6"/>
          <p:cNvSpPr/>
          <p:nvPr/>
        </p:nvSpPr>
        <p:spPr>
          <a:xfrm>
            <a:off x="3017520" y="1097280"/>
            <a:ext cx="1828800" cy="7315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9" name="Text 7"/>
          <p:cNvSpPr/>
          <p:nvPr/>
        </p:nvSpPr>
        <p:spPr>
          <a:xfrm>
            <a:off x="3017520" y="1170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3333"/>
                </a:solidFill>
              </a:rPr>
              <a:t>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08960" y="15361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Ръчно поливане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19659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Неефективно и непоследователно — зависи от присъствието на човек всеки ден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74920" y="1097280"/>
            <a:ext cx="1828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13" name="Shape 11"/>
          <p:cNvSpPr/>
          <p:nvPr/>
        </p:nvSpPr>
        <p:spPr>
          <a:xfrm>
            <a:off x="5074920" y="1097280"/>
            <a:ext cx="1828800" cy="7315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4" name="Text 12"/>
          <p:cNvSpPr/>
          <p:nvPr/>
        </p:nvSpPr>
        <p:spPr>
          <a:xfrm>
            <a:off x="5074920" y="1170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3333"/>
                </a:solidFill>
              </a:rPr>
              <a:t>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66360" y="15361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Таймер системи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66360" y="19659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Поливат по разписание — игнорират реалните нужди на растенията и времето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32320" y="1097280"/>
            <a:ext cx="1828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18" name="Shape 16"/>
          <p:cNvSpPr/>
          <p:nvPr/>
        </p:nvSpPr>
        <p:spPr>
          <a:xfrm>
            <a:off x="7132320" y="1097280"/>
            <a:ext cx="1828800" cy="7315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9" name="Text 17"/>
          <p:cNvSpPr/>
          <p:nvPr/>
        </p:nvSpPr>
        <p:spPr>
          <a:xfrm>
            <a:off x="7132320" y="1170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3333"/>
                </a:solidFill>
              </a:rPr>
              <a:t>✕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23760" y="15361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Сензорни системи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23760" y="19659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Статични прагове без адаптация — не учат от минали резултати и грешат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383280"/>
            <a:ext cx="8412480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47872"/>
            <a:ext cx="566928" cy="56692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15568" y="3383280"/>
            <a:ext cx="7296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SmartGarden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решава всичко това — IoT сензори + Адаптивен AI + Автоматизация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НАШЕТО РЕШЕНИЕ — </a:t>
            </a:r>
            <a:r>
              <a:rPr lang="en-US" sz="2600" b="1" dirty="0" err="1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SmartGarden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8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Автономна IoT система: ESP32 сензори → MQTT → Raspberry Pi → Адаптивен AI → Соленоидни вентили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114800" cy="1371600"/>
          </a:xfrm>
          <a:prstGeom prst="rect">
            <a:avLst/>
          </a:prstGeom>
          <a:solidFill>
            <a:srgbClr val="4A7C59">
              <a:alpha val="50000"/>
            </a:srgbClr>
          </a:solidFill>
          <a:ln w="12700">
            <a:solidFill>
              <a:srgbClr val="97BC62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73152" cy="13716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мрежа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3000" y="213055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 микроконтролери с WiFi събират данни от сензори и управляват соленоидните вентили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1600200"/>
            <a:ext cx="4114800" cy="1371600"/>
          </a:xfrm>
          <a:prstGeom prst="rect">
            <a:avLst/>
          </a:prstGeom>
          <a:solidFill>
            <a:srgbClr val="4A7C59">
              <a:alpha val="50000"/>
            </a:srgbClr>
          </a:solidFill>
          <a:ln w="12700">
            <a:solidFill>
              <a:srgbClr val="97BC62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11" name="Shape 8"/>
          <p:cNvSpPr/>
          <p:nvPr/>
        </p:nvSpPr>
        <p:spPr>
          <a:xfrm>
            <a:off x="4846320" y="1600200"/>
            <a:ext cx="73152" cy="13716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7373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623560" y="213055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Централен сървър с C# .NET 8, PostgreSQL база данни и Eclipse Mosquitto MQTT брокер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65760" y="3154680"/>
            <a:ext cx="4114800" cy="1371600"/>
          </a:xfrm>
          <a:prstGeom prst="rect">
            <a:avLst/>
          </a:prstGeom>
          <a:solidFill>
            <a:srgbClr val="4A7C59">
              <a:alpha val="50000"/>
            </a:srgbClr>
          </a:solidFill>
          <a:ln w="12700">
            <a:solidFill>
              <a:srgbClr val="97BC62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16" name="Shape 12"/>
          <p:cNvSpPr/>
          <p:nvPr/>
        </p:nvSpPr>
        <p:spPr>
          <a:xfrm>
            <a:off x="365760" y="3154680"/>
            <a:ext cx="73152" cy="13716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918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3246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Адаптивен AI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143000" y="3685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Алгоритъмът анализира историята на поливане и автоматично коригира праговете на влагата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46320" y="3154680"/>
            <a:ext cx="4114800" cy="1371600"/>
          </a:xfrm>
          <a:prstGeom prst="rect">
            <a:avLst/>
          </a:prstGeom>
          <a:solidFill>
            <a:srgbClr val="4A7C59">
              <a:alpha val="50000"/>
            </a:srgbClr>
          </a:solidFill>
          <a:ln w="12700">
            <a:solidFill>
              <a:srgbClr val="97BC62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21" name="Shape 16"/>
          <p:cNvSpPr/>
          <p:nvPr/>
        </p:nvSpPr>
        <p:spPr>
          <a:xfrm>
            <a:off x="4846320" y="3154680"/>
            <a:ext cx="73152" cy="13716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29184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23560" y="3246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Уеб Дашборд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623560" y="3685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Server интерфейс с реално-времеви графики, история и ръчно управление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ХАРДУЕРНА АРХИТЕКТУРА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01753" y="1280160"/>
            <a:ext cx="256032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5" name="Text 3"/>
          <p:cNvSpPr/>
          <p:nvPr/>
        </p:nvSpPr>
        <p:spPr>
          <a:xfrm>
            <a:off x="301753" y="1280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7513" y="12527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(8 GB)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7513" y="1490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Централен сървър — мозъкът на системата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1753" y="1764792"/>
            <a:ext cx="256032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9" name="Text 7"/>
          <p:cNvSpPr/>
          <p:nvPr/>
        </p:nvSpPr>
        <p:spPr>
          <a:xfrm>
            <a:off x="301753" y="1764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3" y="1737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 (3 бр.)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3" y="19751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микроконтролери за всяка зона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3" y="2249424"/>
            <a:ext cx="256032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3" name="Text 11"/>
          <p:cNvSpPr/>
          <p:nvPr/>
        </p:nvSpPr>
        <p:spPr>
          <a:xfrm>
            <a:off x="301753" y="2249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3" y="2221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Капацитивни сензори за влага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3" y="24597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Точни и дълготрайни — не корозират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1753" y="2734056"/>
            <a:ext cx="256032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7" name="Text 15"/>
          <p:cNvSpPr/>
          <p:nvPr/>
        </p:nvSpPr>
        <p:spPr>
          <a:xfrm>
            <a:off x="301753" y="27340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3" y="27066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— температура &amp; влажност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3" y="29443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на средата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1753" y="3218688"/>
            <a:ext cx="256032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1" name="Text 19"/>
          <p:cNvSpPr/>
          <p:nvPr/>
        </p:nvSpPr>
        <p:spPr>
          <a:xfrm>
            <a:off x="301753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3" y="31912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BH1750 — светлинен сензор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3" y="3429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I2C, прецизни lux измервания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1753" y="3703320"/>
            <a:ext cx="256032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5" name="Text 23"/>
          <p:cNvSpPr/>
          <p:nvPr/>
        </p:nvSpPr>
        <p:spPr>
          <a:xfrm>
            <a:off x="301753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3" y="36758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12V соленоидни вентили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3" y="39136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Индустриален стандарт за надеждност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1753" y="4187952"/>
            <a:ext cx="256032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9" name="Text 27"/>
          <p:cNvSpPr/>
          <p:nvPr/>
        </p:nvSpPr>
        <p:spPr>
          <a:xfrm>
            <a:off x="301753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01753" y="4672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513" y="4166429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12Ah </a:t>
            </a:r>
            <a:r>
              <a:rPr lang="en-US" sz="1200" b="1" dirty="0" err="1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батерия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7513" y="4404173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Автономна работа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0" y="1005840"/>
            <a:ext cx="3749040" cy="3840480"/>
          </a:xfrm>
          <a:prstGeom prst="rect">
            <a:avLst/>
          </a:prstGeom>
          <a:solidFill>
            <a:srgbClr val="1A3C2B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37" name="Shape 35"/>
          <p:cNvSpPr/>
          <p:nvPr/>
        </p:nvSpPr>
        <p:spPr>
          <a:xfrm>
            <a:off x="5989320" y="1234440"/>
            <a:ext cx="1920240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8" name="Text 36"/>
          <p:cNvSpPr/>
          <p:nvPr/>
        </p:nvSpPr>
        <p:spPr>
          <a:xfrm>
            <a:off x="5989320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Raspberry Pi 5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49440" y="1828800"/>
            <a:ext cx="0" cy="32004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40" name="Shape 38"/>
          <p:cNvSpPr/>
          <p:nvPr/>
        </p:nvSpPr>
        <p:spPr>
          <a:xfrm>
            <a:off x="5623560" y="2148840"/>
            <a:ext cx="2651760" cy="457200"/>
          </a:xfrm>
          <a:prstGeom prst="rect">
            <a:avLst/>
          </a:prstGeom>
          <a:solidFill>
            <a:srgbClr val="4A7C59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41" name="Text 39"/>
          <p:cNvSpPr/>
          <p:nvPr/>
        </p:nvSpPr>
        <p:spPr>
          <a:xfrm>
            <a:off x="562356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MQTT Mosquitto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49440" y="2606040"/>
            <a:ext cx="0" cy="27432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43" name="Shape 41"/>
          <p:cNvSpPr/>
          <p:nvPr/>
        </p:nvSpPr>
        <p:spPr>
          <a:xfrm>
            <a:off x="5138928" y="2880360"/>
            <a:ext cx="1051560" cy="438912"/>
          </a:xfrm>
          <a:prstGeom prst="rect">
            <a:avLst/>
          </a:prstGeom>
          <a:solidFill>
            <a:srgbClr val="4A90A4"/>
          </a:solidFill>
          <a:ln w="12700">
            <a:solidFill>
              <a:srgbClr val="5AA0B4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44" name="Text 42"/>
          <p:cNvSpPr/>
          <p:nvPr/>
        </p:nvSpPr>
        <p:spPr>
          <a:xfrm>
            <a:off x="5138928" y="288036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ESP32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Зона 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660136" y="3319272"/>
            <a:ext cx="0" cy="228600"/>
          </a:xfrm>
          <a:prstGeom prst="line">
            <a:avLst/>
          </a:prstGeom>
          <a:noFill/>
          <a:ln w="12700">
            <a:solidFill>
              <a:srgbClr val="B8E0A8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46" name="Shape 44"/>
          <p:cNvSpPr/>
          <p:nvPr/>
        </p:nvSpPr>
        <p:spPr>
          <a:xfrm>
            <a:off x="5202936" y="3547872"/>
            <a:ext cx="923544" cy="841248"/>
          </a:xfrm>
          <a:prstGeom prst="rect">
            <a:avLst/>
          </a:prstGeom>
          <a:solidFill>
            <a:srgbClr val="1A3C2B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47" name="Text 45"/>
          <p:cNvSpPr/>
          <p:nvPr/>
        </p:nvSpPr>
        <p:spPr>
          <a:xfrm>
            <a:off x="5202936" y="3547872"/>
            <a:ext cx="9235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E0A8"/>
                </a:solidFill>
              </a:rPr>
              <a:t>Влага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E0A8"/>
                </a:solidFill>
              </a:rPr>
              <a:t>Темп.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E0A8"/>
                </a:solidFill>
              </a:rPr>
              <a:t>Светл.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45936" y="2880360"/>
            <a:ext cx="1051560" cy="438912"/>
          </a:xfrm>
          <a:prstGeom prst="rect">
            <a:avLst/>
          </a:prstGeom>
          <a:solidFill>
            <a:srgbClr val="4A90A4"/>
          </a:solidFill>
          <a:ln w="12700">
            <a:solidFill>
              <a:srgbClr val="5AA0B4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49" name="Text 47"/>
          <p:cNvSpPr/>
          <p:nvPr/>
        </p:nvSpPr>
        <p:spPr>
          <a:xfrm>
            <a:off x="6345936" y="288036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ESP32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Зона 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867144" y="3319272"/>
            <a:ext cx="0" cy="228600"/>
          </a:xfrm>
          <a:prstGeom prst="line">
            <a:avLst/>
          </a:prstGeom>
          <a:noFill/>
          <a:ln w="12700">
            <a:solidFill>
              <a:srgbClr val="B8E0A8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51" name="Shape 49"/>
          <p:cNvSpPr/>
          <p:nvPr/>
        </p:nvSpPr>
        <p:spPr>
          <a:xfrm>
            <a:off x="6409944" y="3547872"/>
            <a:ext cx="923544" cy="841248"/>
          </a:xfrm>
          <a:prstGeom prst="rect">
            <a:avLst/>
          </a:prstGeom>
          <a:solidFill>
            <a:srgbClr val="1A3C2B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52" name="Text 50"/>
          <p:cNvSpPr/>
          <p:nvPr/>
        </p:nvSpPr>
        <p:spPr>
          <a:xfrm>
            <a:off x="6409944" y="3547872"/>
            <a:ext cx="9235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E0A8"/>
                </a:solidFill>
              </a:rPr>
              <a:t>Влага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E0A8"/>
                </a:solidFill>
              </a:rPr>
              <a:t>Темп.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E0A8"/>
                </a:solidFill>
              </a:rPr>
              <a:t>Светл.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552944" y="2880360"/>
            <a:ext cx="1051560" cy="438912"/>
          </a:xfrm>
          <a:prstGeom prst="rect">
            <a:avLst/>
          </a:prstGeom>
          <a:solidFill>
            <a:srgbClr val="4A90A4"/>
          </a:solidFill>
          <a:ln w="12700">
            <a:solidFill>
              <a:srgbClr val="5AA0B4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54" name="Text 52"/>
          <p:cNvSpPr/>
          <p:nvPr/>
        </p:nvSpPr>
        <p:spPr>
          <a:xfrm>
            <a:off x="7552944" y="288036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ESP32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Зона 3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074152" y="3319272"/>
            <a:ext cx="0" cy="228600"/>
          </a:xfrm>
          <a:prstGeom prst="line">
            <a:avLst/>
          </a:prstGeom>
          <a:noFill/>
          <a:ln w="12700">
            <a:solidFill>
              <a:srgbClr val="B8E0A8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56" name="Shape 54"/>
          <p:cNvSpPr/>
          <p:nvPr/>
        </p:nvSpPr>
        <p:spPr>
          <a:xfrm>
            <a:off x="7616952" y="3547872"/>
            <a:ext cx="923544" cy="841248"/>
          </a:xfrm>
          <a:prstGeom prst="rect">
            <a:avLst/>
          </a:prstGeom>
          <a:solidFill>
            <a:srgbClr val="1A3C2B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57" name="Text 55"/>
          <p:cNvSpPr/>
          <p:nvPr/>
        </p:nvSpPr>
        <p:spPr>
          <a:xfrm>
            <a:off x="7616952" y="3547872"/>
            <a:ext cx="9235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E0A8"/>
                </a:solidFill>
              </a:rPr>
              <a:t>Влага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E0A8"/>
                </a:solidFill>
              </a:rPr>
              <a:t>Темп.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E0A8"/>
                </a:solidFill>
              </a:rPr>
              <a:t>Светл.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029200" y="48234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5C"/>
                </a:solidFill>
              </a:rPr>
              <a:t>Системна диаграма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АДАПТИВЕН AI АЛГОРИТЪМ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Системата се самообучава от резултатите — прозрачен, обясним алгоритъм (не "черна кутия")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463040"/>
            <a:ext cx="3931920" cy="502920"/>
          </a:xfrm>
          <a:prstGeom prst="rect">
            <a:avLst/>
          </a:prstGeom>
          <a:solidFill>
            <a:srgbClr val="7A2A2A"/>
          </a:solidFill>
          <a:ln w="12700">
            <a:solidFill>
              <a:srgbClr val="7A2A2A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Статична система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2039112"/>
            <a:ext cx="3931920" cy="438912"/>
          </a:xfrm>
          <a:prstGeom prst="rect">
            <a:avLst/>
          </a:prstGeom>
          <a:solidFill>
            <a:srgbClr val="4A7C59">
              <a:alpha val="45000"/>
            </a:srgbClr>
          </a:solidFill>
          <a:ln w="12700">
            <a:solidFill>
              <a:srgbClr val="4A7C5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9" name="Text 6"/>
          <p:cNvSpPr/>
          <p:nvPr/>
        </p:nvSpPr>
        <p:spPr>
          <a:xfrm>
            <a:off x="502920" y="20574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Фиксиран праг 30%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2496312"/>
            <a:ext cx="3931920" cy="438912"/>
          </a:xfrm>
          <a:prstGeom prst="rect">
            <a:avLst/>
          </a:prstGeom>
          <a:solidFill>
            <a:srgbClr val="4A7C59">
              <a:alpha val="25000"/>
            </a:srgbClr>
          </a:solidFill>
          <a:ln w="12700">
            <a:solidFill>
              <a:srgbClr val="4A7C5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1" name="Text 8"/>
          <p:cNvSpPr/>
          <p:nvPr/>
        </p:nvSpPr>
        <p:spPr>
          <a:xfrm>
            <a:off x="502920" y="25146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Еднакво поливане всеки път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2953512"/>
            <a:ext cx="3931920" cy="438912"/>
          </a:xfrm>
          <a:prstGeom prst="rect">
            <a:avLst/>
          </a:prstGeom>
          <a:solidFill>
            <a:srgbClr val="4A7C59">
              <a:alpha val="45000"/>
            </a:srgbClr>
          </a:solidFill>
          <a:ln w="12700">
            <a:solidFill>
              <a:srgbClr val="4A7C5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3" name="Text 10"/>
          <p:cNvSpPr/>
          <p:nvPr/>
        </p:nvSpPr>
        <p:spPr>
          <a:xfrm>
            <a:off x="502920" y="29718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отчита резултати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" y="3410712"/>
            <a:ext cx="3931920" cy="438912"/>
          </a:xfrm>
          <a:prstGeom prst="rect">
            <a:avLst/>
          </a:prstGeom>
          <a:solidFill>
            <a:srgbClr val="4A7C59">
              <a:alpha val="25000"/>
            </a:srgbClr>
          </a:solidFill>
          <a:ln w="12700">
            <a:solidFill>
              <a:srgbClr val="4A7C5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5" name="Text 12"/>
          <p:cNvSpPr/>
          <p:nvPr/>
        </p:nvSpPr>
        <p:spPr>
          <a:xfrm>
            <a:off x="502920" y="34290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Прекалено/недостатъчно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54880" y="1463040"/>
            <a:ext cx="393192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7" name="Text 14"/>
          <p:cNvSpPr/>
          <p:nvPr/>
        </p:nvSpPr>
        <p:spPr>
          <a:xfrm>
            <a:off x="4846320" y="1463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SmartGarden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754880" y="2039112"/>
            <a:ext cx="3931920" cy="438912"/>
          </a:xfrm>
          <a:prstGeom prst="rect">
            <a:avLst/>
          </a:prstGeom>
          <a:solidFill>
            <a:srgbClr val="4A7C59">
              <a:alpha val="45000"/>
            </a:srgbClr>
          </a:solidFill>
          <a:ln w="12700">
            <a:solidFill>
              <a:srgbClr val="4A7C5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9" name="Text 16"/>
          <p:cNvSpPr/>
          <p:nvPr/>
        </p:nvSpPr>
        <p:spPr>
          <a:xfrm>
            <a:off x="4892040" y="20574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Адаптивен праг (28–45%)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754880" y="2496312"/>
            <a:ext cx="3931920" cy="438912"/>
          </a:xfrm>
          <a:prstGeom prst="rect">
            <a:avLst/>
          </a:prstGeom>
          <a:solidFill>
            <a:srgbClr val="4A7C59">
              <a:alpha val="25000"/>
            </a:srgbClr>
          </a:solidFill>
          <a:ln w="12700">
            <a:solidFill>
              <a:srgbClr val="4A7C5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1" name="Text 18"/>
          <p:cNvSpPr/>
          <p:nvPr/>
        </p:nvSpPr>
        <p:spPr>
          <a:xfrm>
            <a:off x="4892040" y="25146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 от всяко поливане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754880" y="2953512"/>
            <a:ext cx="3931920" cy="438912"/>
          </a:xfrm>
          <a:prstGeom prst="rect">
            <a:avLst/>
          </a:prstGeom>
          <a:solidFill>
            <a:srgbClr val="4A7C59">
              <a:alpha val="45000"/>
            </a:srgbClr>
          </a:solidFill>
          <a:ln w="12700">
            <a:solidFill>
              <a:srgbClr val="4A7C5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3" name="Text 20"/>
          <p:cNvSpPr/>
          <p:nvPr/>
        </p:nvSpPr>
        <p:spPr>
          <a:xfrm>
            <a:off x="4892040" y="29718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Анализира ефективността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754880" y="3410712"/>
            <a:ext cx="3931920" cy="438912"/>
          </a:xfrm>
          <a:prstGeom prst="rect">
            <a:avLst/>
          </a:prstGeom>
          <a:solidFill>
            <a:srgbClr val="4A7C59">
              <a:alpha val="25000"/>
            </a:srgbClr>
          </a:solidFill>
          <a:ln w="12700">
            <a:solidFill>
              <a:srgbClr val="4A7C5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5" name="Text 22"/>
          <p:cNvSpPr/>
          <p:nvPr/>
        </p:nvSpPr>
        <p:spPr>
          <a:xfrm>
            <a:off x="4892040" y="34290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Автоматично оптимизиране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65760" y="3931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Стъпки на алгоритъма: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65760" y="4315968"/>
            <a:ext cx="2011680" cy="685800"/>
          </a:xfrm>
          <a:prstGeom prst="rect">
            <a:avLst/>
          </a:prstGeom>
          <a:solidFill>
            <a:srgbClr val="4A7C59">
              <a:alpha val="60000"/>
            </a:srgbClr>
          </a:solidFill>
          <a:ln w="12700">
            <a:solidFill>
              <a:srgbClr val="97BC62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8" name="Text 25"/>
          <p:cNvSpPr/>
          <p:nvPr/>
        </p:nvSpPr>
        <p:spPr>
          <a:xfrm>
            <a:off x="475488" y="43159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Последните 10 напоявания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560320" y="4315968"/>
            <a:ext cx="2011680" cy="685800"/>
          </a:xfrm>
          <a:prstGeom prst="rect">
            <a:avLst/>
          </a:prstGeom>
          <a:solidFill>
            <a:srgbClr val="4A7C59">
              <a:alpha val="60000"/>
            </a:srgbClr>
          </a:solidFill>
          <a:ln w="12700">
            <a:solidFill>
              <a:srgbClr val="97BC62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0" name="Text 27"/>
          <p:cNvSpPr/>
          <p:nvPr/>
        </p:nvSpPr>
        <p:spPr>
          <a:xfrm>
            <a:off x="2670048" y="43159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Ефективност = (влага след − преди)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754880" y="4315968"/>
            <a:ext cx="2011680" cy="685800"/>
          </a:xfrm>
          <a:prstGeom prst="rect">
            <a:avLst/>
          </a:prstGeom>
          <a:solidFill>
            <a:srgbClr val="4A7C59">
              <a:alpha val="60000"/>
            </a:srgbClr>
          </a:solidFill>
          <a:ln w="12700">
            <a:solidFill>
              <a:srgbClr val="97BC62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2" name="Text 29"/>
          <p:cNvSpPr/>
          <p:nvPr/>
        </p:nvSpPr>
        <p:spPr>
          <a:xfrm>
            <a:off x="4864608" y="43159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Тренд — нараства ли нуждата?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49440" y="4315968"/>
            <a:ext cx="2011680" cy="685800"/>
          </a:xfrm>
          <a:prstGeom prst="rect">
            <a:avLst/>
          </a:prstGeom>
          <a:solidFill>
            <a:srgbClr val="4A7C59">
              <a:alpha val="60000"/>
            </a:srgbClr>
          </a:solidFill>
          <a:ln w="12700">
            <a:solidFill>
              <a:srgbClr val="97BC62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4" name="Text 31"/>
          <p:cNvSpPr/>
          <p:nvPr/>
        </p:nvSpPr>
        <p:spPr>
          <a:xfrm>
            <a:off x="7059168" y="43159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Коригира прага автоматично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ТЕХНОЛОГИЧЕН СТЕК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201168" cy="2011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7" name="Text 5"/>
          <p:cNvSpPr/>
          <p:nvPr/>
        </p:nvSpPr>
        <p:spPr>
          <a:xfrm>
            <a:off x="667512" y="16276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.NET 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02536"/>
            <a:ext cx="201168" cy="2011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9" name="Text 7"/>
          <p:cNvSpPr/>
          <p:nvPr/>
        </p:nvSpPr>
        <p:spPr>
          <a:xfrm>
            <a:off x="667512" y="19659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/ Blazor Server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40864"/>
            <a:ext cx="201168" cy="2011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1" name="Text 9"/>
          <p:cNvSpPr/>
          <p:nvPr/>
        </p:nvSpPr>
        <p:spPr>
          <a:xfrm>
            <a:off x="667512" y="2304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(Npgsql)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79192"/>
            <a:ext cx="201168" cy="2011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3" name="Text 11"/>
          <p:cNvSpPr/>
          <p:nvPr/>
        </p:nvSpPr>
        <p:spPr>
          <a:xfrm>
            <a:off x="667512" y="26426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MQTTnet библиотека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5" name="Text 13"/>
          <p:cNvSpPr/>
          <p:nvPr/>
        </p:nvSpPr>
        <p:spPr>
          <a:xfrm>
            <a:off x="489204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1664208"/>
            <a:ext cx="201168" cy="201168"/>
          </a:xfrm>
          <a:prstGeom prst="rect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7" name="Text 15"/>
          <p:cNvSpPr/>
          <p:nvPr/>
        </p:nvSpPr>
        <p:spPr>
          <a:xfrm>
            <a:off x="5056632" y="16276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Components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002536"/>
            <a:ext cx="201168" cy="201168"/>
          </a:xfrm>
          <a:prstGeom prst="rect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9" name="Text 17"/>
          <p:cNvSpPr/>
          <p:nvPr/>
        </p:nvSpPr>
        <p:spPr>
          <a:xfrm>
            <a:off x="5056632" y="19659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Radzen Blazor (Charts)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340864"/>
            <a:ext cx="201168" cy="201168"/>
          </a:xfrm>
          <a:prstGeom prst="rect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1" name="Text 19"/>
          <p:cNvSpPr/>
          <p:nvPr/>
        </p:nvSpPr>
        <p:spPr>
          <a:xfrm>
            <a:off x="5056632" y="2304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679192"/>
            <a:ext cx="201168" cy="201168"/>
          </a:xfrm>
          <a:prstGeom prst="rect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3" name="Text 21"/>
          <p:cNvSpPr/>
          <p:nvPr/>
        </p:nvSpPr>
        <p:spPr>
          <a:xfrm>
            <a:off x="5056632" y="26426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Interop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063240"/>
            <a:ext cx="3931920" cy="4572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5" name="Text 23"/>
          <p:cNvSpPr/>
          <p:nvPr/>
        </p:nvSpPr>
        <p:spPr>
          <a:xfrm>
            <a:off x="502920" y="3063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Комуникация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65760" y="3630168"/>
            <a:ext cx="201168" cy="2011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7" name="Text 25"/>
          <p:cNvSpPr/>
          <p:nvPr/>
        </p:nvSpPr>
        <p:spPr>
          <a:xfrm>
            <a:off x="667512" y="35935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Mosquitto (MQTT)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968496"/>
            <a:ext cx="201168" cy="2011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9" name="Text 27"/>
          <p:cNvSpPr/>
          <p:nvPr/>
        </p:nvSpPr>
        <p:spPr>
          <a:xfrm>
            <a:off x="667512" y="3931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Arduino firmware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306824"/>
            <a:ext cx="201168" cy="2011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1" name="Text 29"/>
          <p:cNvSpPr/>
          <p:nvPr/>
        </p:nvSpPr>
        <p:spPr>
          <a:xfrm>
            <a:off x="667512" y="42702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2.4GHz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645152"/>
            <a:ext cx="201168" cy="2011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3" name="Text 31"/>
          <p:cNvSpPr/>
          <p:nvPr/>
        </p:nvSpPr>
        <p:spPr>
          <a:xfrm>
            <a:off x="667512" y="46085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pub/sub топици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3063240"/>
            <a:ext cx="3931920" cy="4572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5" name="Text 33"/>
          <p:cNvSpPr/>
          <p:nvPr/>
        </p:nvSpPr>
        <p:spPr>
          <a:xfrm>
            <a:off x="4892040" y="3063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Системно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754880" y="3630168"/>
            <a:ext cx="201168" cy="201168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7" name="Text 35"/>
          <p:cNvSpPr/>
          <p:nvPr/>
        </p:nvSpPr>
        <p:spPr>
          <a:xfrm>
            <a:off x="5056632" y="35935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OS (Raspberry Pi)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54880" y="3968496"/>
            <a:ext cx="201168" cy="201168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9" name="Text 37"/>
          <p:cNvSpPr/>
          <p:nvPr/>
        </p:nvSpPr>
        <p:spPr>
          <a:xfrm>
            <a:off x="5056632" y="3931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services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54880" y="4306824"/>
            <a:ext cx="201168" cy="201168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41" name="Text 39"/>
          <p:cNvSpPr/>
          <p:nvPr/>
        </p:nvSpPr>
        <p:spPr>
          <a:xfrm>
            <a:off x="5056632" y="42702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BCrypt.Net (сигурност)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54880" y="4645152"/>
            <a:ext cx="201168" cy="201168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43" name="Text 41"/>
          <p:cNvSpPr/>
          <p:nvPr/>
        </p:nvSpPr>
        <p:spPr>
          <a:xfrm>
            <a:off x="5056632" y="46085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версионен контрол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ФУНКЦИОНАЛНОСТИ НА СИСТЕМАТА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97480" cy="1645920"/>
          </a:xfrm>
          <a:prstGeom prst="rect">
            <a:avLst/>
          </a:prstGeom>
          <a:solidFill>
            <a:srgbClr val="4A7C59">
              <a:alpha val="45000"/>
            </a:srgbClr>
          </a:solidFill>
          <a:ln w="12700">
            <a:solidFill>
              <a:srgbClr val="97BC62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9748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887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161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4048" y="16916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Реално-времеви данни от всички сензори с авто-обновяване на всеки 5 секунди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051560"/>
            <a:ext cx="2697480" cy="1645920"/>
          </a:xfrm>
          <a:prstGeom prst="rect">
            <a:avLst/>
          </a:prstGeom>
          <a:solidFill>
            <a:srgbClr val="4A7C59">
              <a:alpha val="45000"/>
            </a:srgbClr>
          </a:solidFill>
          <a:ln w="12700">
            <a:solidFill>
              <a:srgbClr val="97BC62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9748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1887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1161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Автоматичен полив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55848" y="16916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Проверява влагата на 5 мин и автоматично полива при нужда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051560"/>
            <a:ext cx="2697480" cy="1645920"/>
          </a:xfrm>
          <a:prstGeom prst="rect">
            <a:avLst/>
          </a:prstGeom>
          <a:solidFill>
            <a:srgbClr val="4A7C59">
              <a:alpha val="45000"/>
            </a:srgbClr>
          </a:solidFill>
          <a:ln w="12700">
            <a:solidFill>
              <a:srgbClr val="97BC62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15" name="Shape 11"/>
          <p:cNvSpPr/>
          <p:nvPr/>
        </p:nvSpPr>
        <p:spPr>
          <a:xfrm>
            <a:off x="6217920" y="1051560"/>
            <a:ext cx="269748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1887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1161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Адаптивен AI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27648" y="16916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Анализира ефективността и коригира праговете автоматично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74320" y="2926080"/>
            <a:ext cx="2697480" cy="1645920"/>
          </a:xfrm>
          <a:prstGeom prst="rect">
            <a:avLst/>
          </a:prstGeom>
          <a:solidFill>
            <a:srgbClr val="4A7C59">
              <a:alpha val="45000"/>
            </a:srgbClr>
          </a:solidFill>
          <a:ln w="12700">
            <a:solidFill>
              <a:srgbClr val="97BC62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20" name="Shape 15"/>
          <p:cNvSpPr/>
          <p:nvPr/>
        </p:nvSpPr>
        <p:spPr>
          <a:xfrm>
            <a:off x="274320" y="2926080"/>
            <a:ext cx="269748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0632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30358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&amp; Графики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384048" y="3566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Интерактивни графики на сензорните данни и пълна история на поливане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46120" y="2926080"/>
            <a:ext cx="2697480" cy="1645920"/>
          </a:xfrm>
          <a:prstGeom prst="rect">
            <a:avLst/>
          </a:prstGeom>
          <a:solidFill>
            <a:srgbClr val="4A7C59">
              <a:alpha val="45000"/>
            </a:srgbClr>
          </a:solidFill>
          <a:ln w="12700">
            <a:solidFill>
              <a:srgbClr val="97BC62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25" name="Shape 19"/>
          <p:cNvSpPr/>
          <p:nvPr/>
        </p:nvSpPr>
        <p:spPr>
          <a:xfrm>
            <a:off x="3246120" y="2926080"/>
            <a:ext cx="269748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306324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86200" y="30358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на зони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355848" y="3566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Редактиране на имена, тип растения и индивидуални прагове за всяка зона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17920" y="2926080"/>
            <a:ext cx="2697480" cy="1645920"/>
          </a:xfrm>
          <a:prstGeom prst="rect">
            <a:avLst/>
          </a:prstGeom>
          <a:solidFill>
            <a:srgbClr val="4A7C59">
              <a:alpha val="45000"/>
            </a:srgbClr>
          </a:solidFill>
          <a:ln w="12700">
            <a:solidFill>
              <a:srgbClr val="97BC62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30" name="Shape 23"/>
          <p:cNvSpPr/>
          <p:nvPr/>
        </p:nvSpPr>
        <p:spPr>
          <a:xfrm>
            <a:off x="6217920" y="2926080"/>
            <a:ext cx="269748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06324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0" y="30358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&amp; Night режим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327648" y="3566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при ниска батерия; Night mode за минимално изпарение нощем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РЕЗУЛТАТИ &amp; БЪДЕЩО РАЗВИТИЕ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Постигнато: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63039"/>
            <a:ext cx="1861145" cy="500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Пълна IoT система с 3 зони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892807"/>
            <a:ext cx="1861145" cy="500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MQTT комуникация (ESP32 ↔ Pi)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322575"/>
            <a:ext cx="1861145" cy="500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PostgreSQL база данни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752343"/>
            <a:ext cx="1861145" cy="500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Уеб дашборд (Blazor Server)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463039"/>
            <a:ext cx="1861145" cy="500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Адаптивен AI алгоритъм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1892807"/>
            <a:ext cx="1861145" cy="500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Автоматично поливане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2322575"/>
            <a:ext cx="1861145" cy="500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Eco &amp; Night режими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1005840"/>
            <a:ext cx="0" cy="3840480"/>
          </a:xfrm>
          <a:prstGeom prst="line">
            <a:avLst/>
          </a:prstGeom>
          <a:noFill/>
          <a:ln w="19050">
            <a:solidFill>
              <a:srgbClr val="97BC62"/>
            </a:solidFill>
            <a:prstDash val="dash"/>
          </a:ln>
        </p:spPr>
        <p:txBody>
          <a:bodyPr/>
          <a:lstStyle/>
          <a:p>
            <a:endParaRPr lang="bg-BG"/>
          </a:p>
        </p:txBody>
      </p:sp>
      <p:sp>
        <p:nvSpPr>
          <p:cNvPr id="14" name="Text 12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Бъдещо развитие: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1463040"/>
            <a:ext cx="4023360" cy="713232"/>
          </a:xfrm>
          <a:prstGeom prst="rect">
            <a:avLst/>
          </a:prstGeom>
          <a:solidFill>
            <a:srgbClr val="2C5F2D">
              <a:alpha val="20000"/>
            </a:srgbClr>
          </a:solidFill>
          <a:ln w="12700">
            <a:solidFill>
              <a:srgbClr val="97BC6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6" name="Text 14"/>
          <p:cNvSpPr/>
          <p:nvPr/>
        </p:nvSpPr>
        <p:spPr>
          <a:xfrm>
            <a:off x="4937760" y="1508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Cloud интеграция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Отдалечен достъп от всяко устройство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286000"/>
            <a:ext cx="4023360" cy="713232"/>
          </a:xfrm>
          <a:prstGeom prst="rect">
            <a:avLst/>
          </a:prstGeom>
          <a:solidFill>
            <a:srgbClr val="2C5F2D">
              <a:alpha val="20000"/>
            </a:srgbClr>
          </a:solidFill>
          <a:ln w="12700">
            <a:solidFill>
              <a:srgbClr val="97BC6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9" name="Text 17"/>
          <p:cNvSpPr/>
          <p:nvPr/>
        </p:nvSpPr>
        <p:spPr>
          <a:xfrm>
            <a:off x="4937760" y="2331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🌦 Прогноза за времето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Пропуска полив при предстоящ дъжд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108960"/>
            <a:ext cx="4023360" cy="713232"/>
          </a:xfrm>
          <a:prstGeom prst="rect">
            <a:avLst/>
          </a:prstGeom>
          <a:solidFill>
            <a:srgbClr val="2C5F2D">
              <a:alpha val="20000"/>
            </a:srgbClr>
          </a:solidFill>
          <a:ln w="12700">
            <a:solidFill>
              <a:srgbClr val="97BC6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2" name="Text 20"/>
          <p:cNvSpPr/>
          <p:nvPr/>
        </p:nvSpPr>
        <p:spPr>
          <a:xfrm>
            <a:off x="4937760" y="3154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Мобилно приложение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нотификации и дистанционно управление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931920"/>
            <a:ext cx="4023360" cy="713232"/>
          </a:xfrm>
          <a:prstGeom prst="rect">
            <a:avLst/>
          </a:prstGeom>
          <a:solidFill>
            <a:srgbClr val="2C5F2D">
              <a:alpha val="20000"/>
            </a:srgbClr>
          </a:solidFill>
          <a:ln w="12700">
            <a:solidFill>
              <a:srgbClr val="97BC6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5" name="Text 23"/>
          <p:cNvSpPr/>
          <p:nvPr/>
        </p:nvSpPr>
        <p:spPr>
          <a:xfrm>
            <a:off x="4937760" y="3977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Мащабируемост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Архитектурата позволява неограничен брой зони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" y="1920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SmartGarden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" y="3063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8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Интелигентното бъдеще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B8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напояването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82880" y="3840480"/>
            <a:ext cx="2834640" cy="548640"/>
          </a:xfrm>
          <a:prstGeom prst="rect">
            <a:avLst/>
          </a:prstGeom>
          <a:solidFill>
            <a:srgbClr val="1A3C2B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7" name="Text 4"/>
          <p:cNvSpPr/>
          <p:nvPr/>
        </p:nvSpPr>
        <p:spPr>
          <a:xfrm>
            <a:off x="182880" y="3840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bg-BG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Денис</a:t>
            </a: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bg-BG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Петър</a:t>
            </a: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11 клас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566160" y="457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Защо GardenBrain?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566160" y="1005840"/>
            <a:ext cx="5212080" cy="777240"/>
          </a:xfrm>
          <a:prstGeom prst="rect">
            <a:avLst/>
          </a:prstGeom>
          <a:solidFill>
            <a:srgbClr val="4A7C59">
              <a:alpha val="45000"/>
            </a:srgbClr>
          </a:solidFill>
          <a:ln w="12700">
            <a:solidFill>
              <a:srgbClr val="97BC62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10" name="Shape 7"/>
          <p:cNvSpPr/>
          <p:nvPr/>
        </p:nvSpPr>
        <p:spPr>
          <a:xfrm>
            <a:off x="3566160" y="1005840"/>
            <a:ext cx="54864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1" name="Text 8"/>
          <p:cNvSpPr/>
          <p:nvPr/>
        </p:nvSpPr>
        <p:spPr>
          <a:xfrm>
            <a:off x="363931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160520" y="10607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Обяснимо AI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160520" y="14081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Алгоритъмът е прозрачен — знаем защо взема всяко решение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566160" y="1920240"/>
            <a:ext cx="5212080" cy="777240"/>
          </a:xfrm>
          <a:prstGeom prst="rect">
            <a:avLst/>
          </a:prstGeom>
          <a:solidFill>
            <a:srgbClr val="4A7C59">
              <a:alpha val="45000"/>
            </a:srgbClr>
          </a:solidFill>
          <a:ln w="12700">
            <a:solidFill>
              <a:srgbClr val="97BC62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15" name="Shape 12"/>
          <p:cNvSpPr/>
          <p:nvPr/>
        </p:nvSpPr>
        <p:spPr>
          <a:xfrm>
            <a:off x="3566160" y="1920240"/>
            <a:ext cx="54864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6" name="Text 13"/>
          <p:cNvSpPr/>
          <p:nvPr/>
        </p:nvSpPr>
        <p:spPr>
          <a:xfrm>
            <a:off x="363931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160520" y="19751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Ниска консумация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60520" y="23225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deep sleep, соларно зареждане, 12Ah батерия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566160" y="2834640"/>
            <a:ext cx="5212080" cy="777240"/>
          </a:xfrm>
          <a:prstGeom prst="rect">
            <a:avLst/>
          </a:prstGeom>
          <a:solidFill>
            <a:srgbClr val="4A7C59">
              <a:alpha val="45000"/>
            </a:srgbClr>
          </a:solidFill>
          <a:ln w="12700">
            <a:solidFill>
              <a:srgbClr val="97BC62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20" name="Shape 17"/>
          <p:cNvSpPr/>
          <p:nvPr/>
        </p:nvSpPr>
        <p:spPr>
          <a:xfrm>
            <a:off x="3566160" y="2834640"/>
            <a:ext cx="54864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1" name="Text 18"/>
          <p:cNvSpPr/>
          <p:nvPr/>
        </p:nvSpPr>
        <p:spPr>
          <a:xfrm>
            <a:off x="3639312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160520" y="28895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Данни &amp; Статистики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160520" y="32369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история за анализ и непрекъснато подобрение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566160" y="3749040"/>
            <a:ext cx="5212080" cy="777240"/>
          </a:xfrm>
          <a:prstGeom prst="rect">
            <a:avLst/>
          </a:prstGeom>
          <a:solidFill>
            <a:srgbClr val="4A7C59">
              <a:alpha val="45000"/>
            </a:srgbClr>
          </a:solidFill>
          <a:ln w="12700">
            <a:solidFill>
              <a:srgbClr val="97BC62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25" name="Shape 22"/>
          <p:cNvSpPr/>
          <p:nvPr/>
        </p:nvSpPr>
        <p:spPr>
          <a:xfrm>
            <a:off x="3566160" y="3749040"/>
            <a:ext cx="54864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6" name="Text 23"/>
          <p:cNvSpPr/>
          <p:nvPr/>
        </p:nvSpPr>
        <p:spPr>
          <a:xfrm>
            <a:off x="3639312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160520" y="38039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Реална реализация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160520" y="41513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Работеща система с истински хардуер и производствен код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566160" y="4663440"/>
            <a:ext cx="5212080" cy="38404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0" name="Text 27"/>
          <p:cNvSpPr/>
          <p:nvPr/>
        </p:nvSpPr>
        <p:spPr>
          <a:xfrm>
            <a:off x="3566160" y="46634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Благодарим</a:t>
            </a:r>
            <a:r>
              <a:rPr lang="en-US" sz="14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 вниманието! 🌱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674</Words>
  <Application>Microsoft Office PowerPoint</Application>
  <PresentationFormat>Презентация на цял екран (16:9)</PresentationFormat>
  <Paragraphs>173</Paragraphs>
  <Slides>9</Slides>
  <Notes>9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GardenBrain - Интелигентна система за напояване</dc:title>
  <dc:subject>PptxGenJS Presentation</dc:subject>
  <dc:creator>PptxGenJS</dc:creator>
  <cp:lastModifiedBy>Денис Г. Петров</cp:lastModifiedBy>
  <cp:revision>2</cp:revision>
  <dcterms:created xsi:type="dcterms:W3CDTF">2026-03-01T21:56:51Z</dcterms:created>
  <dcterms:modified xsi:type="dcterms:W3CDTF">2026-03-01T22:29:39Z</dcterms:modified>
</cp:coreProperties>
</file>